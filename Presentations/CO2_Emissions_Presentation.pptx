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5.xml" ContentType="application/vnd.openxmlformats-officedocument.drawingml.chart+xml"/>
  <Override PartName="/ppt/charts/colors5.xml" ContentType="application/vnd.ms-office.chartcolorstyle+xml"/>
  <Override PartName="/ppt/charts/style5.xml" ContentType="application/vnd.ms-office.chartstyle+xml"/>
  <Override PartName="/ppt/charts/colors3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4.xml" ContentType="application/vnd.openxmlformats-officedocument.drawingml.char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_rels/chart5.xml.rels><?xml version="1.0" encoding="UTF-8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Global CO2 (Mt)</c:v>
                </c:pt>
              </c:strCache>
            </c:strRef>
          </c:tx>
          <c:spPr>
            <a:solidFill>
              <a:srgbClr val="065A82"/>
            </a:solidFill>
            <a:ln w="38160">
              <a:solidFill>
                <a:srgbClr val="065A82"/>
              </a:solidFill>
              <a:round/>
            </a:ln>
          </c:spPr>
          <c:marker>
            <c:symbol val="circle"/>
            <c:size val="6"/>
            <c:spPr>
              <a:solidFill>
                <a:srgbClr val="065A82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5"/>
                <c:pt idx="0">
                  <c:v>1750</c:v>
                </c:pt>
                <c:pt idx="1">
                  <c:v>1800</c:v>
                </c:pt>
                <c:pt idx="2">
                  <c:v>1850</c:v>
                </c:pt>
                <c:pt idx="3">
                  <c:v>1900</c:v>
                </c:pt>
                <c:pt idx="4">
                  <c:v>1920</c:v>
                </c:pt>
                <c:pt idx="5">
                  <c:v>1940</c:v>
                </c:pt>
                <c:pt idx="6">
                  <c:v>1950</c:v>
                </c:pt>
                <c:pt idx="7">
                  <c:v>1960</c:v>
                </c:pt>
                <c:pt idx="8">
                  <c:v>1970</c:v>
                </c:pt>
                <c:pt idx="9">
                  <c:v>1980</c:v>
                </c:pt>
                <c:pt idx="10">
                  <c:v>1990</c:v>
                </c:pt>
                <c:pt idx="11">
                  <c:v>2000</c:v>
                </c:pt>
                <c:pt idx="12">
                  <c:v>2010</c:v>
                </c:pt>
                <c:pt idx="13">
                  <c:v>2020</c:v>
                </c:pt>
                <c:pt idx="14">
                  <c:v>2021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5"/>
                <c:pt idx="0">
                  <c:v>9</c:v>
                </c:pt>
                <c:pt idx="1">
                  <c:v>30</c:v>
                </c:pt>
                <c:pt idx="2">
                  <c:v>200</c:v>
                </c:pt>
                <c:pt idx="3">
                  <c:v>1952</c:v>
                </c:pt>
                <c:pt idx="4">
                  <c:v>3000</c:v>
                </c:pt>
                <c:pt idx="5">
                  <c:v>4700</c:v>
                </c:pt>
                <c:pt idx="6">
                  <c:v>5900</c:v>
                </c:pt>
                <c:pt idx="7">
                  <c:v>9400</c:v>
                </c:pt>
                <c:pt idx="8">
                  <c:v>14900</c:v>
                </c:pt>
                <c:pt idx="9">
                  <c:v>19300</c:v>
                </c:pt>
                <c:pt idx="10">
                  <c:v>22700</c:v>
                </c:pt>
                <c:pt idx="11">
                  <c:v>25200</c:v>
                </c:pt>
                <c:pt idx="12">
                  <c:v>32300</c:v>
                </c:pt>
                <c:pt idx="13">
                  <c:v>34800</c:v>
                </c:pt>
                <c:pt idx="14">
                  <c:v>37124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57692146"/>
        <c:axId val="43433142"/>
      </c:lineChart>
      <c:catAx>
        <c:axId val="5769214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4A6270"/>
                </a:solidFill>
                <a:uFillTx/>
                <a:latin typeface="Arial"/>
              </a:defRPr>
            </a:pPr>
          </a:p>
        </c:txPr>
        <c:crossAx val="43433142"/>
        <c:crosses val="autoZero"/>
        <c:auto val="1"/>
        <c:lblAlgn val="ctr"/>
        <c:lblOffset val="100"/>
        <c:noMultiLvlLbl val="0"/>
      </c:catAx>
      <c:valAx>
        <c:axId val="43433142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4A6270"/>
                </a:solidFill>
                <a:uFillTx/>
                <a:latin typeface="Arial"/>
              </a:defRPr>
            </a:pPr>
          </a:p>
        </c:txPr>
        <c:crossAx val="5769214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0F7FA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CO2 (Mt)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65A82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C7293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C7293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4A90A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4A90A4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4A90A4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4A90A4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4A90A4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A2B3C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China</c:v>
                </c:pt>
                <c:pt idx="1">
                  <c:v>USA</c:v>
                </c:pt>
                <c:pt idx="2">
                  <c:v>India</c:v>
                </c:pt>
                <c:pt idx="3">
                  <c:v>Russia</c:v>
                </c:pt>
                <c:pt idx="4">
                  <c:v>Japan</c:v>
                </c:pt>
                <c:pt idx="5">
                  <c:v>Iran</c:v>
                </c:pt>
                <c:pt idx="6">
                  <c:v>Germany</c:v>
                </c:pt>
                <c:pt idx="7">
                  <c:v>S. Arabia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11472</c:v>
                </c:pt>
                <c:pt idx="1">
                  <c:v>5007</c:v>
                </c:pt>
                <c:pt idx="2">
                  <c:v>2710</c:v>
                </c:pt>
                <c:pt idx="3">
                  <c:v>1756</c:v>
                </c:pt>
                <c:pt idx="4">
                  <c:v>1067</c:v>
                </c:pt>
                <c:pt idx="5">
                  <c:v>749</c:v>
                </c:pt>
                <c:pt idx="6">
                  <c:v>675</c:v>
                </c:pt>
                <c:pt idx="7">
                  <c:v>672</c:v>
                </c:pt>
              </c:numCache>
            </c:numRef>
          </c:val>
        </c:ser>
        <c:gapWidth val="150"/>
        <c:overlap val="0"/>
        <c:axId val="96235379"/>
        <c:axId val="27520770"/>
      </c:barChart>
      <c:catAx>
        <c:axId val="9623537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A2B3C"/>
                </a:solidFill>
                <a:uFillTx/>
                <a:latin typeface="Arial"/>
              </a:defRPr>
            </a:pPr>
          </a:p>
        </c:txPr>
        <c:crossAx val="27520770"/>
        <c:crosses val="autoZero"/>
        <c:auto val="1"/>
        <c:lblAlgn val="ctr"/>
        <c:lblOffset val="100"/>
        <c:noMultiLvlLbl val="0"/>
      </c:catAx>
      <c:valAx>
        <c:axId val="27520770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4A6270"/>
                </a:solidFill>
                <a:uFillTx/>
                <a:latin typeface="Arial"/>
              </a:defRPr>
            </a:pPr>
          </a:p>
        </c:txPr>
        <c:crossAx val="9623537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Tonnes per Person</c:v>
                </c:pt>
              </c:strCache>
            </c:strRef>
          </c:tx>
          <c:spPr>
            <a:solidFill>
              <a:srgbClr val="F9A03F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F9A03F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9A03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F9A03F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F9A03F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E84855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E84855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C7293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C7293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A2B3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A2B3C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Qatar</c:v>
                </c:pt>
                <c:pt idx="1">
                  <c:v>Bahrain</c:v>
                </c:pt>
                <c:pt idx="2">
                  <c:v>Kuwait</c:v>
                </c:pt>
                <c:pt idx="3">
                  <c:v>UAE</c:v>
                </c:pt>
                <c:pt idx="4">
                  <c:v>Australia</c:v>
                </c:pt>
                <c:pt idx="5">
                  <c:v>USA</c:v>
                </c:pt>
                <c:pt idx="6">
                  <c:v>Russia</c:v>
                </c:pt>
                <c:pt idx="7">
                  <c:v>Germany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35.6</c:v>
                </c:pt>
                <c:pt idx="1">
                  <c:v>26.7</c:v>
                </c:pt>
                <c:pt idx="2">
                  <c:v>25</c:v>
                </c:pt>
                <c:pt idx="3">
                  <c:v>21.8</c:v>
                </c:pt>
                <c:pt idx="4">
                  <c:v>15.1</c:v>
                </c:pt>
                <c:pt idx="5">
                  <c:v>14.9</c:v>
                </c:pt>
                <c:pt idx="6">
                  <c:v>12.1</c:v>
                </c:pt>
                <c:pt idx="7">
                  <c:v>8</c:v>
                </c:pt>
              </c:numCache>
            </c:numRef>
          </c:val>
        </c:ser>
        <c:gapWidth val="150"/>
        <c:overlap val="0"/>
        <c:axId val="59797317"/>
        <c:axId val="58933272"/>
      </c:barChart>
      <c:catAx>
        <c:axId val="5979731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A2B3C"/>
                </a:solidFill>
                <a:uFillTx/>
                <a:latin typeface="Arial"/>
              </a:defRPr>
            </a:pPr>
          </a:p>
        </c:txPr>
        <c:crossAx val="58933272"/>
        <c:crosses val="autoZero"/>
        <c:auto val="1"/>
        <c:lblAlgn val="ctr"/>
        <c:lblOffset val="100"/>
        <c:noMultiLvlLbl val="0"/>
      </c:catAx>
      <c:valAx>
        <c:axId val="58933272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4A6270"/>
                </a:solidFill>
                <a:uFillTx/>
                <a:latin typeface="Arial"/>
              </a:defRPr>
            </a:pPr>
          </a:p>
        </c:txPr>
        <c:crossAx val="5979731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Fuel Mix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21295C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84855"/>
              </a:solidFill>
              <a:ln w="0">
                <a:noFill/>
              </a:ln>
            </c:spPr>
          </c:dPt>
          <c:dPt>
            <c:idx val="2"/>
            <c:spPr>
              <a:solidFill>
                <a:srgbClr val="065A82"/>
              </a:solidFill>
              <a:ln w="0">
                <a:noFill/>
              </a:ln>
            </c:spPr>
          </c:dPt>
          <c:dPt>
            <c:idx val="3"/>
            <c:spPr>
              <a:solidFill>
                <a:srgbClr val="F9A03F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4"/>
                <c:pt idx="0">
                  <c:v>Coal 41.1%</c:v>
                </c:pt>
                <c:pt idx="1">
                  <c:v>Oil 32.5%</c:v>
                </c:pt>
                <c:pt idx="2">
                  <c:v>Gas 21.8%</c:v>
                </c:pt>
                <c:pt idx="3">
                  <c:v>Cement 4.6%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14980</c:v>
                </c:pt>
                <c:pt idx="1">
                  <c:v>11837</c:v>
                </c:pt>
                <c:pt idx="2">
                  <c:v>7922</c:v>
                </c:pt>
                <c:pt idx="3">
                  <c:v>1673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1A2B3C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0F7FA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Fossil Fuels + Cement (Mt)</c:v>
                </c:pt>
              </c:strCache>
            </c:strRef>
          </c:tx>
          <c:spPr>
            <a:solidFill>
              <a:srgbClr val="E84855"/>
            </a:solidFill>
            <a:ln w="38160">
              <a:solidFill>
                <a:srgbClr val="E84855"/>
              </a:solidFill>
              <a:round/>
            </a:ln>
          </c:spPr>
          <c:marker>
            <c:symbol val="circle"/>
            <c:size val="6"/>
            <c:spPr>
              <a:solidFill>
                <a:srgbClr val="E84855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"/>
                <c:pt idx="0">
                  <c:v>1900</c:v>
                </c:pt>
                <c:pt idx="1">
                  <c:v>1910</c:v>
                </c:pt>
                <c:pt idx="2">
                  <c:v>1920</c:v>
                </c:pt>
                <c:pt idx="3">
                  <c:v>1930</c:v>
                </c:pt>
                <c:pt idx="4">
                  <c:v>1940</c:v>
                </c:pt>
                <c:pt idx="5">
                  <c:v>1950</c:v>
                </c:pt>
                <c:pt idx="6">
                  <c:v>1960</c:v>
                </c:pt>
                <c:pt idx="7">
                  <c:v>1970</c:v>
                </c:pt>
                <c:pt idx="8">
                  <c:v>1980</c:v>
                </c:pt>
                <c:pt idx="9">
                  <c:v>1990</c:v>
                </c:pt>
                <c:pt idx="10">
                  <c:v>2000</c:v>
                </c:pt>
                <c:pt idx="11">
                  <c:v>2010</c:v>
                </c:pt>
                <c:pt idx="12">
                  <c:v>2021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1952</c:v>
                </c:pt>
                <c:pt idx="1">
                  <c:v>3500</c:v>
                </c:pt>
                <c:pt idx="2">
                  <c:v>3800</c:v>
                </c:pt>
                <c:pt idx="3">
                  <c:v>3900</c:v>
                </c:pt>
                <c:pt idx="4">
                  <c:v>4700</c:v>
                </c:pt>
                <c:pt idx="5">
                  <c:v>5900</c:v>
                </c:pt>
                <c:pt idx="6">
                  <c:v>9400</c:v>
                </c:pt>
                <c:pt idx="7">
                  <c:v>14900</c:v>
                </c:pt>
                <c:pt idx="8">
                  <c:v>19300</c:v>
                </c:pt>
                <c:pt idx="9">
                  <c:v>22700</c:v>
                </c:pt>
                <c:pt idx="10">
                  <c:v>25200</c:v>
                </c:pt>
                <c:pt idx="11">
                  <c:v>32300</c:v>
                </c:pt>
                <c:pt idx="12">
                  <c:v>36411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Land Use Change (Mt)</c:v>
                </c:pt>
              </c:strCache>
            </c:strRef>
          </c:tx>
          <c:spPr>
            <a:solidFill>
              <a:srgbClr val="1C7293"/>
            </a:solidFill>
            <a:ln w="38160">
              <a:solidFill>
                <a:srgbClr val="1C7293"/>
              </a:solidFill>
              <a:round/>
            </a:ln>
          </c:spPr>
          <c:marker>
            <c:symbol val="circle"/>
            <c:size val="6"/>
            <c:spPr>
              <a:solidFill>
                <a:srgbClr val="1C7293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"/>
                <c:pt idx="0">
                  <c:v>1900</c:v>
                </c:pt>
                <c:pt idx="1">
                  <c:v>1910</c:v>
                </c:pt>
                <c:pt idx="2">
                  <c:v>1920</c:v>
                </c:pt>
                <c:pt idx="3">
                  <c:v>1930</c:v>
                </c:pt>
                <c:pt idx="4">
                  <c:v>1940</c:v>
                </c:pt>
                <c:pt idx="5">
                  <c:v>1950</c:v>
                </c:pt>
                <c:pt idx="6">
                  <c:v>1960</c:v>
                </c:pt>
                <c:pt idx="7">
                  <c:v>1970</c:v>
                </c:pt>
                <c:pt idx="8">
                  <c:v>1980</c:v>
                </c:pt>
                <c:pt idx="9">
                  <c:v>1990</c:v>
                </c:pt>
                <c:pt idx="10">
                  <c:v>2000</c:v>
                </c:pt>
                <c:pt idx="11">
                  <c:v>2010</c:v>
                </c:pt>
                <c:pt idx="12">
                  <c:v>2021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3"/>
                <c:pt idx="0">
                  <c:v>2000</c:v>
                </c:pt>
                <c:pt idx="1">
                  <c:v>2100</c:v>
                </c:pt>
                <c:pt idx="2">
                  <c:v>2200</c:v>
                </c:pt>
                <c:pt idx="3">
                  <c:v>2300</c:v>
                </c:pt>
                <c:pt idx="4">
                  <c:v>2500</c:v>
                </c:pt>
                <c:pt idx="5">
                  <c:v>2600</c:v>
                </c:pt>
                <c:pt idx="6">
                  <c:v>3000</c:v>
                </c:pt>
                <c:pt idx="7">
                  <c:v>3500</c:v>
                </c:pt>
                <c:pt idx="8">
                  <c:v>4000</c:v>
                </c:pt>
                <c:pt idx="9">
                  <c:v>4500</c:v>
                </c:pt>
                <c:pt idx="10">
                  <c:v>4200</c:v>
                </c:pt>
                <c:pt idx="11">
                  <c:v>4000</c:v>
                </c:pt>
                <c:pt idx="12">
                  <c:v>3939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8748799"/>
        <c:axId val="28123811"/>
      </c:lineChart>
      <c:catAx>
        <c:axId val="874879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4A6270"/>
                </a:solidFill>
                <a:uFillTx/>
                <a:latin typeface="Arial"/>
              </a:defRPr>
            </a:pPr>
          </a:p>
        </c:txPr>
        <c:crossAx val="28123811"/>
        <c:crosses val="autoZero"/>
        <c:auto val="1"/>
        <c:lblAlgn val="ctr"/>
        <c:lblOffset val="100"/>
        <c:noMultiLvlLbl val="0"/>
      </c:catAx>
      <c:valAx>
        <c:axId val="28123811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4A6270"/>
                </a:solidFill>
                <a:uFillTx/>
                <a:latin typeface="Arial"/>
              </a:defRPr>
            </a:pPr>
          </a:p>
        </c:txPr>
        <c:crossAx val="8748799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1A2B3C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0F7FA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A1B1EC1-9260-4B48-9287-64924393033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stakeholders. This presentation summarizes 270 years of global CO2 data. We answer 4 key questions that matter for climate decisions.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224067-09B7-49AA-82A3-661512AD75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Brief overview of the 6 sections we will cover.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84D6D-8F97-43A3-B391-5146FF12A2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dataset comes from Our World in Data — a trusted, peer-reviewed source used by governments and research institutions worldwide.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715C32-EBB8-4195-A3DE-EFAD95F6ED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message: CO2 growth has been relentless. Every crisis caused a brief pause — but never a true reversal.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FA1138-3EBE-4B74-A474-139C3B8502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chart tells a simple but alarming story. Emissions were flat for thousands of years, then exploded after industrialization.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3CE233-DE72-4914-BD23-90C94FE050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center of gravity has shifted from the industrialized West to Asia. China emits more than the USA and India combined.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F5AAA0-AA91-4C7F-AAAF-372D9862BF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shows the dramatic geopolitical shift in who bears responsibility for emissions.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2429CD-3A1E-4204-BED3-468AC51384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per-capita lens completely changes who looks 'guilty'. Gulf states have tiny populations but enormous individual footprints.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EC19CE-DE5F-4379-A533-8FDF7743BE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Coal's share has fallen from 95% to 41% — but its absolute volume keeps growing. We've added oil and gas on top, not replaced coal.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109D39-934B-4355-8FD7-8471E1F5D0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separate problems: fossil fuels growing rapidly, land use persistent. Both must be tackled simultaneously.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E6BCE9-4085-4952-BE40-4969A1A459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Summarize these 4 points clearly for the audience. These are the takeaways they should remember.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1283DF-D7BE-4938-BF94-A8655C4E68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6 recommendations are directly derived from the data — not political opinion. Emphasize that point to the audience.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4EB42E-F65A-4335-A3F6-40CCDB96F3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visual summary of all key numbers. Good for a quick recap before the closing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1B970A-DA42-4F9D-A1E8-35C7812667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with confidence. The data speaks for itself. Invite questions.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8B7B50-38E0-4CFE-BA6A-2774710E20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217920" y="-1097280"/>
            <a:ext cx="5028840" cy="502884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-457200"/>
            <a:ext cx="3657240" cy="365724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73152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Global 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CO2 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Emissio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6916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C8E6F5"/>
                </a:solidFill>
                <a:effectLst/>
                <a:uFillTx/>
                <a:latin typeface="Cambria"/>
                <a:ea typeface="Cambria"/>
              </a:rPr>
              <a:t>Analysis </a:t>
            </a:r>
            <a:r>
              <a:rPr lang="en-US" sz="3800" b="1" u="none" strike="noStrike">
                <a:solidFill>
                  <a:srgbClr val="C8E6F5"/>
                </a:solidFill>
                <a:effectLst/>
                <a:uFillTx/>
                <a:latin typeface="Cambria"/>
                <a:ea typeface="Cambria"/>
              </a:rPr>
              <a:t>(1750–</a:t>
            </a:r>
            <a:r>
              <a:rPr lang="en-US" sz="3800" b="1" u="none" strike="noStrike">
                <a:solidFill>
                  <a:srgbClr val="C8E6F5"/>
                </a:solidFill>
                <a:effectLst/>
                <a:uFillTx/>
                <a:latin typeface="Cambria"/>
                <a:ea typeface="Cambria"/>
              </a:rPr>
              <a:t>2021)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274320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A 270-Year Story of Carbon, </a:t>
            </a:r>
            <a:r>
              <a:rPr lang="en-US" sz="1600" b="0" i="1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Climate &amp; Consequence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3337560"/>
            <a:ext cx="4114440" cy="3636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35661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9A03F"/>
                </a:solidFill>
                <a:effectLst/>
                <a:uFillTx/>
                <a:latin typeface="Cambria"/>
                <a:ea typeface="Cambria"/>
              </a:rPr>
              <a:t>270+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41148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Years of 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017520" y="35661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9A03F"/>
                </a:solidFill>
                <a:effectLst/>
                <a:uFillTx/>
                <a:latin typeface="Cambria"/>
                <a:ea typeface="Cambria"/>
              </a:rPr>
              <a:t>278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017520" y="41148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Countries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577840" y="35661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9A03F"/>
                </a:solidFill>
                <a:effectLst/>
                <a:uFillTx/>
                <a:latin typeface="Cambria"/>
                <a:ea typeface="Cambria"/>
              </a:rPr>
              <a:t>79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5577840" y="41148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Indicators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5720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Dr. Bahaa  |  Bahaa Pharmacy, Egypt  |  June 2026  |  Data: Our World in Data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What We Will Cover Today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457200" y="1097280"/>
            <a:ext cx="40230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94360" y="11887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1234440" y="11703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The Big Picture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1234440" y="155448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How global CO2 has grown from 1750 to </a:t>
            </a: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2021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457200" y="2286000"/>
            <a:ext cx="40230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594360" y="23774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1234440" y="235908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Who Is Responsible?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1234440" y="274320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The countries driving the most emissions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457200" y="3474720"/>
            <a:ext cx="40230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594360" y="35661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1234440" y="354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The Individual Story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1234440" y="393192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Which citizens have the largest carbon </a:t>
            </a: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footprint?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4754880" y="1097280"/>
            <a:ext cx="40230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4892040" y="11887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5532120" y="11703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What Are We Burning?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5532120" y="155448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Coal, oil, gas, and land use over time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4754880" y="2286000"/>
            <a:ext cx="40230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4892040" y="23774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5532120" y="235908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Key Insights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5532120" y="274320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What the data tells us — in plain language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1"/>
          <p:cNvSpPr/>
          <p:nvPr/>
        </p:nvSpPr>
        <p:spPr>
          <a:xfrm>
            <a:off x="4754880" y="3474720"/>
            <a:ext cx="40230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4892040" y="35661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5532120" y="354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Recommendations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4"/>
          <p:cNvSpPr/>
          <p:nvPr/>
        </p:nvSpPr>
        <p:spPr>
          <a:xfrm>
            <a:off x="5532120" y="393192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Data-driven actions for decision makers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About the Data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457200" y="1188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Our World in Data — Global CO2 &amp; GHG Emissions Dataset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457200" y="1691640"/>
            <a:ext cx="43887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This dataset is one of the most comprehensive records of humanity's carbon footprint ever assembled. It combines industrial records, energy statistics, land-use surveys, and population data — spanning every major country from the birth of the Industrial Revolution to today.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5120640" y="1188720"/>
            <a:ext cx="1737000" cy="1188360"/>
          </a:xfrm>
          <a:prstGeom prst="roundRect">
            <a:avLst>
              <a:gd name="adj" fmla="val 7692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5120640" y="13258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50,598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5120640" y="18471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Data Points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7040880" y="1188720"/>
            <a:ext cx="1737000" cy="1188360"/>
          </a:xfrm>
          <a:prstGeom prst="roundRect">
            <a:avLst>
              <a:gd name="adj" fmla="val 7692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7040880" y="13258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1750–2021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7040880" y="18471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Time Span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5120640" y="2606040"/>
            <a:ext cx="1737000" cy="1188360"/>
          </a:xfrm>
          <a:prstGeom prst="roundRect">
            <a:avLst>
              <a:gd name="adj" fmla="val 7692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5120640" y="274320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278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5120640" y="326448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Countries &amp; Regions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7040880" y="2606040"/>
            <a:ext cx="1737000" cy="1188360"/>
          </a:xfrm>
          <a:prstGeom prst="roundRect">
            <a:avLst>
              <a:gd name="adj" fmla="val 7692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7040880" y="274320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79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7040880" y="326448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Measured Indicators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6"/>
          <p:cNvSpPr/>
          <p:nvPr/>
        </p:nvSpPr>
        <p:spPr>
          <a:xfrm>
            <a:off x="457200" y="4114800"/>
            <a:ext cx="8229240" cy="822600"/>
          </a:xfrm>
          <a:prstGeom prst="roundRect">
            <a:avLst>
              <a:gd name="adj" fmla="val 8889"/>
            </a:avLst>
          </a:prstGeom>
          <a:solidFill>
            <a:srgbClr val="C8E6F5">
              <a:alpha val="7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594720" y="416088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📌  CO2 values are measured in Million Tonnes (Mt). Per-capita values are in tonnes per person per year. Early years have sparse data — coverage expands dramatically after 1950.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228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4A90A4"/>
                </a:solidFill>
                <a:effectLst/>
                <a:uFillTx/>
                <a:latin typeface="Calibri"/>
                <a:ea typeface="Calibri"/>
              </a:rPr>
              <a:t>The Big Picture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6858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271 Years of Rising Carbon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457200" y="1691640"/>
            <a:ext cx="1508400" cy="2834280"/>
          </a:xfrm>
          <a:prstGeom prst="roundRect">
            <a:avLst>
              <a:gd name="adj" fmla="val 6061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4A9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457200" y="178308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A90A4"/>
                </a:solidFill>
                <a:effectLst/>
                <a:uFillTx/>
                <a:latin typeface="Cambria"/>
                <a:ea typeface="Cambria"/>
              </a:rPr>
              <a:t>1760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457200" y="228600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Industrial Revolution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548640" y="2834640"/>
            <a:ext cx="1325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First coal-powered factories. CO2 begins its long rise.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2148840" y="1691640"/>
            <a:ext cx="1508400" cy="2834280"/>
          </a:xfrm>
          <a:prstGeom prst="roundRect">
            <a:avLst>
              <a:gd name="adj" fmla="val 6061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2148840" y="178308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1900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2148840" y="228600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Global Industrialization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2240280" y="2834640"/>
            <a:ext cx="1325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1,952 Mt emitted. Europe and USA race to industrialize.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3840480" y="1691640"/>
            <a:ext cx="1508400" cy="2834280"/>
          </a:xfrm>
          <a:prstGeom prst="roundRect">
            <a:avLst>
              <a:gd name="adj" fmla="val 6061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F9A0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3840480" y="178308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9A03F"/>
                </a:solidFill>
                <a:effectLst/>
                <a:uFillTx/>
                <a:latin typeface="Cambria"/>
                <a:ea typeface="Cambria"/>
              </a:rPr>
              <a:t>1945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3840480" y="228600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Post-WW2 Boom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3931920" y="2834640"/>
            <a:ext cx="1325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Sharpest acceleration in history. Cars, factories, cities explode.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5532120" y="1691640"/>
            <a:ext cx="1508400" cy="2834280"/>
          </a:xfrm>
          <a:prstGeom prst="roundRect">
            <a:avLst>
              <a:gd name="adj" fmla="val 6061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E848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5532120" y="178308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4855"/>
                </a:solidFill>
                <a:effectLst/>
                <a:uFillTx/>
                <a:latin typeface="Cambria"/>
                <a:ea typeface="Cambria"/>
              </a:rPr>
              <a:t>1973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5532120" y="228600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Oil Crisis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5623560" y="2834640"/>
            <a:ext cx="1325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First global pause. A brief dip — quickly reversed.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8"/>
          <p:cNvSpPr/>
          <p:nvPr/>
        </p:nvSpPr>
        <p:spPr>
          <a:xfrm>
            <a:off x="7223760" y="1691640"/>
            <a:ext cx="1508400" cy="2834280"/>
          </a:xfrm>
          <a:prstGeom prst="roundRect">
            <a:avLst>
              <a:gd name="adj" fmla="val 6061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E848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7223760" y="178308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4855"/>
                </a:solidFill>
                <a:effectLst/>
                <a:uFillTx/>
                <a:latin typeface="Cambria"/>
                <a:ea typeface="Cambria"/>
              </a:rPr>
              <a:t>2021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7223760" y="228600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Today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7315200" y="2834640"/>
            <a:ext cx="1325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37,124 Mt. A 1,802% rise since 1900. No sustained decline ever.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457200" y="46177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84855"/>
                </a:solidFill>
                <a:effectLst/>
                <a:uFillTx/>
                <a:latin typeface="Cambria"/>
                <a:ea typeface="Cambria"/>
              </a:rPr>
              <a:t>+1,802%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3"/>
          <p:cNvSpPr/>
          <p:nvPr/>
        </p:nvSpPr>
        <p:spPr>
          <a:xfrm>
            <a:off x="3931920" y="466344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growth in global CO2 emissions from 1900 to 2021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Global CO2 Emissions — 1750 to 2021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" name="Chart 0"/>
          <p:cNvGraphicFramePr/>
          <p:nvPr/>
        </p:nvGraphicFramePr>
        <p:xfrm>
          <a:off x="365760" y="1005840"/>
          <a:ext cx="8412120" cy="347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3" name="Shape 2"/>
          <p:cNvSpPr/>
          <p:nvPr/>
        </p:nvSpPr>
        <p:spPr>
          <a:xfrm>
            <a:off x="365760" y="4617720"/>
            <a:ext cx="2651400" cy="411120"/>
          </a:xfrm>
          <a:prstGeom prst="roundRect">
            <a:avLst>
              <a:gd name="adj" fmla="val 13333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457200" y="46634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1750: 9 Mt — Near Zero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3291840" y="4617720"/>
            <a:ext cx="2651400" cy="411120"/>
          </a:xfrm>
          <a:prstGeom prst="roundRect">
            <a:avLst>
              <a:gd name="adj" fmla="val 13333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3383280" y="46634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1900: 1,952 Mt — Industrial 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6217920" y="4617720"/>
            <a:ext cx="2651400" cy="411120"/>
          </a:xfrm>
          <a:prstGeom prst="roundRect">
            <a:avLst>
              <a:gd name="adj" fmla="val 13333"/>
            </a:avLst>
          </a:prstGeom>
          <a:solidFill>
            <a:srgbClr val="E84855">
              <a:alpha val="90000"/>
            </a:srgbClr>
          </a:solidFill>
          <a:ln w="12700">
            <a:solidFill>
              <a:srgbClr val="E848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6309360" y="46634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2021: 37,124 Mt — Today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Who Is Responsible? — Top Emitters in 2021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1" name="Chart 0"/>
          <p:cNvGraphicFramePr/>
          <p:nvPr/>
        </p:nvGraphicFramePr>
        <p:xfrm>
          <a:off x="365760" y="1005840"/>
          <a:ext cx="530316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2" name="Shape 2"/>
          <p:cNvSpPr/>
          <p:nvPr/>
        </p:nvSpPr>
        <p:spPr>
          <a:xfrm>
            <a:off x="5943600" y="1097280"/>
            <a:ext cx="2834280" cy="1051200"/>
          </a:xfrm>
          <a:prstGeom prst="roundRect">
            <a:avLst>
              <a:gd name="adj" fmla="val 8696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5943600" y="117036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30.9%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5989320" y="16642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China's share of global CO2 — alone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5943600" y="2331720"/>
            <a:ext cx="2834280" cy="1051200"/>
          </a:xfrm>
          <a:prstGeom prst="roundRect">
            <a:avLst>
              <a:gd name="adj" fmla="val 8696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5943600" y="240480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51.7%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5989320" y="289872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China + USA + India combined share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5943600" y="3566160"/>
            <a:ext cx="2834280" cy="1051200"/>
          </a:xfrm>
          <a:prstGeom prst="roundRect">
            <a:avLst>
              <a:gd name="adj" fmla="val 8696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5943600" y="363924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68.3%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5989320" y="413316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Top 10 countries combined share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5943600" y="4709160"/>
            <a:ext cx="2834280" cy="319680"/>
          </a:xfrm>
          <a:prstGeom prst="roundRect">
            <a:avLst>
              <a:gd name="adj" fmla="val 17143"/>
            </a:avLst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5943600" y="47275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 1900: UK &amp; Europe led. In 2021: Asia dominates.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5720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How the Rankings Changed Over 120 Years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>
            <a:off x="365760" y="816120"/>
            <a:ext cx="2697120" cy="39315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4A90A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365760" y="816120"/>
            <a:ext cx="2697120" cy="594000"/>
          </a:xfrm>
          <a:prstGeom prst="roundRect">
            <a:avLst>
              <a:gd name="adj" fmla="val 15385"/>
            </a:avLst>
          </a:prstGeom>
          <a:solidFill>
            <a:srgbClr val="4A90A4"/>
          </a:solidFill>
          <a:ln w="12700">
            <a:solidFill>
              <a:srgbClr val="4A9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365760" y="86184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1900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02920" y="169164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90A4"/>
                </a:solidFill>
                <a:effectLst/>
                <a:uFillTx/>
                <a:latin typeface="Calibri"/>
                <a:ea typeface="Calibri"/>
              </a:rPr>
              <a:t>🥇 United States — 663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502920" y="228600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🥈 United Kingdom — 420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502920" y="28803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🥉 Germany — 327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02920" y="347472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4. France — 129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502920" y="406908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5. Poland — 63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3246120" y="816120"/>
            <a:ext cx="2697120" cy="39315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3246120" y="816120"/>
            <a:ext cx="2697120" cy="59400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3246120" y="86184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1970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3383280" y="169164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🥇 United States — 4,340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3383280" y="228600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🥈 Russia — 1,441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3383280" y="28803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🥉 Germany — 1,026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3383280" y="347472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4. China — 808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3383280" y="406908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5. Japan — 768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6126480" y="816120"/>
            <a:ext cx="2697120" cy="39315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6126480" y="816120"/>
            <a:ext cx="2697120" cy="59400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6126480" y="82584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2021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6263640" y="169164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🥇 China — 11,472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6263640" y="228600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🥈 United States — 5,007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6263640" y="288036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🥉 India — 2,710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6263640" y="347472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4. Russia — 1,756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6263640" y="4069080"/>
            <a:ext cx="2422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5. Japan — 1,067 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5"/>
          <p:cNvSpPr/>
          <p:nvPr/>
        </p:nvSpPr>
        <p:spPr>
          <a:xfrm>
            <a:off x="45720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💡  The United States held the #1 spot for over 100 years — China overtook it only after 2006, driven by rapid industrialization.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Individual Story — Carbon Footprint Per Person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1" name="Chart 0"/>
          <p:cNvGraphicFramePr/>
          <p:nvPr/>
        </p:nvGraphicFramePr>
        <p:xfrm>
          <a:off x="365760" y="1005840"/>
          <a:ext cx="5028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2" name="Text 2"/>
          <p:cNvSpPr/>
          <p:nvPr/>
        </p:nvSpPr>
        <p:spPr>
          <a:xfrm>
            <a:off x="5669280" y="10058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Tonnes per person / year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5669280" y="1463040"/>
            <a:ext cx="3108600" cy="914040"/>
          </a:xfrm>
          <a:prstGeom prst="roundRect">
            <a:avLst>
              <a:gd name="adj" fmla="val 10000"/>
            </a:avLst>
          </a:prstGeom>
          <a:solidFill>
            <a:srgbClr val="F0F7FA"/>
          </a:solidFill>
          <a:ln w="25400">
            <a:solidFill>
              <a:srgbClr val="F9A03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5669280" y="150876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9A03F"/>
                </a:solidFill>
                <a:effectLst/>
                <a:uFillTx/>
                <a:latin typeface="Cambria"/>
                <a:ea typeface="Cambria"/>
              </a:rPr>
              <a:t>35.6 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5669280" y="20116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Qatar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5669280" y="2560320"/>
            <a:ext cx="3108600" cy="914040"/>
          </a:xfrm>
          <a:prstGeom prst="roundRect">
            <a:avLst>
              <a:gd name="adj" fmla="val 10000"/>
            </a:avLst>
          </a:prstGeom>
          <a:solidFill>
            <a:srgbClr val="F0F7FA"/>
          </a:solidFill>
          <a:ln w="25400">
            <a:solidFill>
              <a:srgbClr val="1C7293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5669280" y="260604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4.7 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5669280" y="31089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World Average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5669280" y="3657600"/>
            <a:ext cx="3108600" cy="914040"/>
          </a:xfrm>
          <a:prstGeom prst="roundRect">
            <a:avLst>
              <a:gd name="adj" fmla="val 10000"/>
            </a:avLst>
          </a:prstGeom>
          <a:solidFill>
            <a:srgbClr val="F0F7FA"/>
          </a:solidFill>
          <a:ln w="25400">
            <a:solidFill>
              <a:srgbClr val="4A90A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5669280" y="370332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A90A4"/>
                </a:solidFill>
                <a:effectLst/>
                <a:uFillTx/>
                <a:latin typeface="Cambria"/>
                <a:ea typeface="Cambria"/>
              </a:rPr>
              <a:t>1.9 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5669280" y="42062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India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365760" y="466344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💡  Total emissions ≠ per-capita emissions.  China emits 30% of global CO2 but only 8 t per person. Qatar emits a fraction of China's total — yet each Qatari emits 35.6 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What Are We Burning? — CO2 by Source (2021)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Chart 0"/>
          <p:cNvGraphicFramePr/>
          <p:nvPr/>
        </p:nvGraphicFramePr>
        <p:xfrm>
          <a:off x="274320" y="1005840"/>
          <a:ext cx="41144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5" name="Shape 1"/>
          <p:cNvSpPr/>
          <p:nvPr/>
        </p:nvSpPr>
        <p:spPr>
          <a:xfrm>
            <a:off x="4754880" y="1005840"/>
            <a:ext cx="411444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4892040" y="10515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🪨  Coal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6858000" y="10515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14,980 Mt  |  41.1%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4892040" y="14446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Still the largest source — never truly declined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4754880" y="2011680"/>
            <a:ext cx="411444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4892040" y="20574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4855"/>
                </a:solidFill>
                <a:effectLst/>
                <a:uFillTx/>
                <a:latin typeface="Calibri"/>
                <a:ea typeface="Calibri"/>
              </a:rPr>
              <a:t>🛢️  Oil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6858000" y="20574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4855"/>
                </a:solidFill>
                <a:effectLst/>
                <a:uFillTx/>
                <a:latin typeface="Cambria"/>
                <a:ea typeface="Cambria"/>
              </a:rPr>
              <a:t>11,837 Mt  |  32.5%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4892040" y="24505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Powered by transportation worldwide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9"/>
          <p:cNvSpPr/>
          <p:nvPr/>
        </p:nvSpPr>
        <p:spPr>
          <a:xfrm>
            <a:off x="4754880" y="3017520"/>
            <a:ext cx="411444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4892040" y="30632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💨  Gas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6858000" y="30632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7,922 Mt  |  21.8%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4892040" y="34563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The so-called 'clean' fossil fuel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4754880" y="4023360"/>
            <a:ext cx="411444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8E6F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4892040" y="406908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🌳  Land Use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6858000" y="4069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3,939 Mt  |  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4892040" y="44622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Deforestation — silent but persistent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Fossil Fuels vs. Land Use — Trend Since 1900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3" name="Chart 0"/>
          <p:cNvGraphicFramePr/>
          <p:nvPr/>
        </p:nvGraphicFramePr>
        <p:xfrm>
          <a:off x="365760" y="1005840"/>
          <a:ext cx="841212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4" name="Shape 2"/>
          <p:cNvSpPr/>
          <p:nvPr/>
        </p:nvSpPr>
        <p:spPr>
          <a:xfrm>
            <a:off x="365760" y="4480560"/>
            <a:ext cx="8412120" cy="548280"/>
          </a:xfrm>
          <a:prstGeom prst="roundRect">
            <a:avLst>
              <a:gd name="adj" fmla="val 13333"/>
            </a:avLst>
          </a:prstGeom>
          <a:solidFill>
            <a:srgbClr val="F0F7FA"/>
          </a:solidFill>
          <a:ln w="12700">
            <a:solidFill>
              <a:srgbClr val="C8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548640" y="455364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💡  Fossil fuels now produce 9x more CO2 than land use. But land use emissions of 3,939 Mt remain stubbornly flat — deforestation has not slowed despite decades of pledges.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1828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4A90A4"/>
                </a:solidFill>
                <a:effectLst/>
                <a:uFillTx/>
                <a:latin typeface="Calibri"/>
                <a:ea typeface="Calibri"/>
              </a:rPr>
              <a:t>KEY INSIGHTS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457200" y="5670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the Data Tells Us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457200" y="1417320"/>
            <a:ext cx="4023000" cy="1371240"/>
          </a:xfrm>
          <a:prstGeom prst="roundRect">
            <a:avLst>
              <a:gd name="adj" fmla="val 6667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F9A0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640080" y="15087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9A03F"/>
                </a:solidFill>
                <a:effectLst/>
                <a:uFillTx/>
                <a:latin typeface="Calibri"/>
                <a:ea typeface="Calibri"/>
              </a:rPr>
              <a:t>01  No Reversal — Ever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640080" y="192024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In 270 years, global CO2 has never truly declined. Wars, crises, and pandemics caused temporary dips — always followed by a rebound.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"/>
          <p:cNvSpPr/>
          <p:nvPr/>
        </p:nvSpPr>
        <p:spPr>
          <a:xfrm>
            <a:off x="457200" y="2971800"/>
            <a:ext cx="4023000" cy="1371240"/>
          </a:xfrm>
          <a:prstGeom prst="roundRect">
            <a:avLst>
              <a:gd name="adj" fmla="val 6667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E848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640080" y="3063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4855"/>
                </a:solidFill>
                <a:effectLst/>
                <a:uFillTx/>
                <a:latin typeface="Calibri"/>
                <a:ea typeface="Calibri"/>
              </a:rPr>
              <a:t>02  A Two-Country Problem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640080" y="347472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China and the USA together produce 44% of global emissions. No climate strategy succeeds without their full commitment.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4754880" y="1417320"/>
            <a:ext cx="4023000" cy="1371240"/>
          </a:xfrm>
          <a:prstGeom prst="roundRect">
            <a:avLst>
              <a:gd name="adj" fmla="val 6667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4937760" y="15087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 Total ≠ Per Capita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4937760" y="192024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Qatar (pop. 3M) emits 35.6 t/person vs India (1.4B) at 1.9 t. Fairness demands both lenses in climate negotiations.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4754880" y="2971800"/>
            <a:ext cx="4023000" cy="1371240"/>
          </a:xfrm>
          <a:prstGeom prst="roundRect">
            <a:avLst>
              <a:gd name="adj" fmla="val 6667"/>
            </a:avLst>
          </a:prstGeom>
          <a:solidFill>
            <a:srgbClr val="065A82">
              <a:alpha val="80000"/>
            </a:srgbClr>
          </a:solidFill>
          <a:ln w="25400">
            <a:solidFill>
              <a:srgbClr val="C8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4937760" y="3063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8E6F5"/>
                </a:solidFill>
                <a:effectLst/>
                <a:uFillTx/>
                <a:latin typeface="Calibri"/>
                <a:ea typeface="Calibri"/>
              </a:rPr>
              <a:t>04  Coal Is Not Gone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4937760" y="347472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Coal fell from 95% to 41% share — but its volume never fell. We added oil and gas on top. The energy transition is incomplete.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Data-Driven Recommendations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365760" y="1005840"/>
            <a:ext cx="4023000" cy="118836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9050">
            <a:solidFill>
              <a:srgbClr val="E8485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02920" y="10699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84855"/>
                </a:solidFill>
                <a:effectLst/>
                <a:uFillTx/>
                <a:latin typeface="Calibri"/>
                <a:ea typeface="Calibri"/>
              </a:rPr>
              <a:t>🔴  Phase out coal — globally and urgently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502920" y="148140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Coal is 41% of emissions and still growing in volume. Every operating coal plant delays climate targets.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365760" y="2331720"/>
            <a:ext cx="4023000" cy="118836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9050">
            <a:solidFill>
              <a:srgbClr val="E8485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502920" y="239580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84855"/>
                </a:solidFill>
                <a:effectLst/>
                <a:uFillTx/>
                <a:latin typeface="Calibri"/>
                <a:ea typeface="Calibri"/>
              </a:rPr>
              <a:t>🔴  China &amp; USA must lead — not follow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502920" y="280728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Combined they represent 44% of global CO2. International agreements without their binding commitment are symbolic.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365760" y="3657600"/>
            <a:ext cx="4023000" cy="118836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9050">
            <a:solidFill>
              <a:srgbClr val="F9A03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502920" y="37216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9A03F"/>
                </a:solidFill>
                <a:effectLst/>
                <a:uFillTx/>
                <a:latin typeface="Calibri"/>
                <a:ea typeface="Calibri"/>
              </a:rPr>
              <a:t>🟠  Address Gulf states' per-capita excess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502920" y="413316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Qatar at 35.6 t/person has room to cut dramatically through efficiency and renewable energy.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4663440" y="1005840"/>
            <a:ext cx="4023000" cy="118836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9050">
            <a:solidFill>
              <a:srgbClr val="F9A03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4800600" y="10699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9A03F"/>
                </a:solidFill>
                <a:effectLst/>
                <a:uFillTx/>
                <a:latin typeface="Calibri"/>
                <a:ea typeface="Calibri"/>
              </a:rPr>
              <a:t>🟠  Stop calling gas a 'green transition'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4800600" y="148140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Natural gas emits 7,922 Mt/year. It is a bridge to nowhere if the other end is not renewables.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4"/>
          <p:cNvSpPr/>
          <p:nvPr/>
        </p:nvSpPr>
        <p:spPr>
          <a:xfrm>
            <a:off x="4663440" y="2331720"/>
            <a:ext cx="4023000" cy="118836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9050">
            <a:solidFill>
              <a:srgbClr val="1C7293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4800600" y="239580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🟡  Halt deforestation — it never stopped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4800600" y="280728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Land use adds 3,939 Mt annually. Forest protection is the cheapest carbon solution available.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4663440" y="3657600"/>
            <a:ext cx="4023000" cy="118836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9050">
            <a:solidFill>
              <a:srgbClr val="4A90A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4800600" y="37216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90A4"/>
                </a:solidFill>
                <a:effectLst/>
                <a:uFillTx/>
                <a:latin typeface="Calibri"/>
                <a:ea typeface="Calibri"/>
              </a:rPr>
              <a:t>🟢  Support India's clean development path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4800600" y="413316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India's per capita is 1.9 t — but rising fast. Helping India industrialize cleanly prevents the next China scenario.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45720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The Story in Numbers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365760" y="1005840"/>
            <a:ext cx="265140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84855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365760" y="128016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84855"/>
                </a:solidFill>
                <a:effectLst/>
                <a:uFillTx/>
                <a:latin typeface="Cambria"/>
                <a:ea typeface="Cambria"/>
              </a:rPr>
              <a:t>+1,802%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457200" y="210312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CO2 growth since 1900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3200400" y="1005840"/>
            <a:ext cx="265140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3200400" y="128016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37,124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3291840" y="210312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Million tonnes emitted in 2021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7"/>
          <p:cNvSpPr/>
          <p:nvPr/>
        </p:nvSpPr>
        <p:spPr>
          <a:xfrm>
            <a:off x="6035040" y="1005840"/>
            <a:ext cx="265140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6035040" y="128016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30.9%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6126480" y="210312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China's share of global CO2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365760" y="3017520"/>
            <a:ext cx="265140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9A03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365760" y="329184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9A03F"/>
                </a:solidFill>
                <a:effectLst/>
                <a:uFillTx/>
                <a:latin typeface="Cambria"/>
                <a:ea typeface="Cambria"/>
              </a:rPr>
              <a:t>35.6 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2"/>
          <p:cNvSpPr/>
          <p:nvPr/>
        </p:nvSpPr>
        <p:spPr>
          <a:xfrm>
            <a:off x="457200" y="411480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Qatar's CO2 per person/year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3"/>
          <p:cNvSpPr/>
          <p:nvPr/>
        </p:nvSpPr>
        <p:spPr>
          <a:xfrm>
            <a:off x="3200400" y="3017520"/>
            <a:ext cx="265140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1295C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3200400" y="329184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41%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3291840" y="411480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Share still coming from coal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6"/>
          <p:cNvSpPr/>
          <p:nvPr/>
        </p:nvSpPr>
        <p:spPr>
          <a:xfrm>
            <a:off x="6035040" y="3017520"/>
            <a:ext cx="265140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A90A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6035040" y="329184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A90A4"/>
                </a:solidFill>
                <a:effectLst/>
                <a:uFillTx/>
                <a:latin typeface="Cambria"/>
                <a:ea typeface="Cambria"/>
              </a:rPr>
              <a:t>3,939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8"/>
          <p:cNvSpPr/>
          <p:nvPr/>
        </p:nvSpPr>
        <p:spPr>
          <a:xfrm>
            <a:off x="6126480" y="411480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6270"/>
                </a:solidFill>
                <a:effectLst/>
                <a:uFillTx/>
                <a:latin typeface="Calibri"/>
                <a:ea typeface="Calibri"/>
              </a:rPr>
              <a:t>Mt from deforestation annually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5943600" y="2286000"/>
            <a:ext cx="4571640" cy="4571640"/>
          </a:xfrm>
          <a:prstGeom prst="ellipse">
            <a:avLst/>
          </a:prstGeom>
          <a:solidFill>
            <a:srgbClr val="21295C">
              <a:alpha val="60000"/>
            </a:srgbClr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57200" y="64008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"The atmosphere does not negotiate."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457200" y="15544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8E6F5"/>
                </a:solidFill>
                <a:effectLst/>
                <a:uFillTx/>
                <a:latin typeface="Calibri"/>
                <a:ea typeface="Calibri"/>
              </a:rPr>
              <a:t>It does not care about economic growth, political cycles, or quarterly profits.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8E6F5"/>
                </a:solidFill>
                <a:effectLst/>
                <a:uFillTx/>
                <a:latin typeface="Calibri"/>
                <a:ea typeface="Calibri"/>
              </a:rPr>
              <a:t>It only responds to the total amount of carbon we release.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8E6F5"/>
                </a:solidFill>
                <a:effectLst/>
                <a:uFillTx/>
                <a:latin typeface="Calibri"/>
                <a:ea typeface="Calibri"/>
              </a:rPr>
              <a:t>The data is clear. The question now is whether our decisions will match it.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457200" y="3063240"/>
            <a:ext cx="5028840" cy="3636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457200" y="324612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457200" y="393192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8E6F5"/>
                </a:solidFill>
                <a:effectLst/>
                <a:uFillTx/>
                <a:latin typeface="Calibri"/>
                <a:ea typeface="Calibri"/>
              </a:rPr>
              <a:t>Questions &amp; Discussion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457200" y="457200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Dr. Bahaa  |  Bahaa Pharmacy, Dirout, Egypt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Analysis Tool: Python 3 &amp; Jupyter Notebook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Data Source: Our World in Data — Global CO2 &amp; GHG Emissions Dataset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AABB"/>
                </a:solidFill>
                <a:effectLst/>
                <a:uFillTx/>
                <a:latin typeface="Calibri"/>
                <a:ea typeface="Calibri"/>
              </a:rPr>
              <a:t>June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2026-06-21T11:39:46Z</dcterms:created>
  <dc:creator>Dr. Bahaa</dc:creator>
  <dc:description/>
  <dc:language>en-US</dc:language>
  <cp:lastModifiedBy/>
  <dcterms:modified xsi:type="dcterms:W3CDTF">2026-06-21T14:47:09Z</dcterms:modified>
  <cp:revision>3</cp:revision>
  <dc:subject>PptxGenJS Presentation</dc:subject>
  <dc:title>Global CO2 Emissions Analysis (1750–2021)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